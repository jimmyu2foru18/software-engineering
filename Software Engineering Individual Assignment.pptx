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unit.org/junit5/docs/current/user-guide/" TargetMode="External"/><Relationship Id="rId3" Type="http://schemas.openxmlformats.org/officeDocument/2006/relationships/hyperlink" Target="https://wit-hdip-computer-science.github.io/semester-1-programming/topic10-abstraction-TDD/talk-4/lecture_28-junit-terminolog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junit-team/junit5/blob/main/documentation/src/docs/asciidoc/user-guide/writing-tests.adoc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9d134e4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9d134e4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19d134e4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9d134e44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9d134e44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19d134e444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9d134e44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9d134e44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19d134e44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9d134e44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19d134e44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19d134e444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9d134e44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9d134e44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19d134e444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9d134e444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9d134e444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19d134e444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9d134e444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9d134e444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19d134e444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a02005bb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a02005bb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1a02005bb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9d134e444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9d134e444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19d134e444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9d134e444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9d134e444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19d134e444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9d134e444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19d134e444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2"/>
              </a:rPr>
              <a:t>https://junit.org/junit5/docs/current/user-guide/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https://wit-hdip-computer-science.github.io/semester-1-programming/topic10-abstraction-TDD/talk-4/lecture_28-junit-terminology.pdf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252" name="Google Shape;252;g319d134e444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9d134e444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9d134e444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2"/>
              </a:rPr>
              <a:t>https://github.com/junit-team/junit5/blob/main/documentation/src/docs/asciidoc/user-guide/writing-tests.adoc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19d134e444_1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9d134e444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19d134e444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19d134e444_1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-1" l="9358" r="0" t="23650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3070" l="0" r="28340" t="1830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333500" y="2674013"/>
            <a:ext cx="2895600" cy="3269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">
  <p:cSld name="Section Break 1">
    <p:bg>
      <p:bgPr>
        <a:solidFill>
          <a:schemeClr val="accen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" name="Google Shape;26;p4"/>
          <p:cNvGrpSpPr/>
          <p:nvPr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27" name="Google Shape;27;p4"/>
            <p:cNvCxnSpPr/>
            <p:nvPr/>
          </p:nvCxnSpPr>
          <p:spPr>
            <a:xfrm rot="10800000">
              <a:off x="0" y="876300"/>
              <a:ext cx="4762500" cy="16287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2638425" y="0"/>
              <a:ext cx="2124076" cy="5186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1322325" y="1926725"/>
            <a:ext cx="8156400" cy="3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1" sz="2000"/>
            </a:lvl1pPr>
            <a:lvl2pPr indent="-342900" lvl="1" marL="91440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1" sz="20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32" name="Google Shape;32;p5"/>
          <p:cNvGrpSpPr/>
          <p:nvPr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33" name="Google Shape;33;p5"/>
            <p:cNvCxnSpPr/>
            <p:nvPr/>
          </p:nvCxnSpPr>
          <p:spPr>
            <a:xfrm>
              <a:off x="9096375" y="1497012"/>
              <a:ext cx="309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" name="Google Shape;34;p5"/>
            <p:cNvCxnSpPr/>
            <p:nvPr/>
          </p:nvCxnSpPr>
          <p:spPr>
            <a:xfrm flipH="1">
              <a:off x="9381744" y="-25401"/>
              <a:ext cx="2810256" cy="68834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35" name="Google Shape;35;p5"/>
          <p:cNvCxnSpPr/>
          <p:nvPr/>
        </p:nvCxnSpPr>
        <p:spPr>
          <a:xfrm flipH="1" rot="10800000">
            <a:off x="-1" y="-25403"/>
            <a:ext cx="1210573" cy="20481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3">
  <p:cSld name="Section Break 3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ctrTitle"/>
          </p:nvPr>
        </p:nvSpPr>
        <p:spPr>
          <a:xfrm>
            <a:off x="6991350" y="406400"/>
            <a:ext cx="4179570" cy="3457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1341120" y="558801"/>
            <a:ext cx="9953308" cy="17808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" name="Google Shape;43;p7"/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44" name="Google Shape;44;p7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" name="Google Shape;45;p7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341120" y="2960877"/>
            <a:ext cx="2722880" cy="35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1341120" y="3392035"/>
            <a:ext cx="2722880" cy="290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754881" y="2960877"/>
            <a:ext cx="5516880" cy="35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754881" y="3324859"/>
            <a:ext cx="5506720" cy="3031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 1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8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25785" y="0"/>
            <a:ext cx="4093633" cy="391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>
            <p:ph type="title"/>
          </p:nvPr>
        </p:nvSpPr>
        <p:spPr>
          <a:xfrm>
            <a:off x="2933700" y="568961"/>
            <a:ext cx="8420100" cy="17808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2933700" y="2797255"/>
            <a:ext cx="3924300" cy="464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2933700" y="3251596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7410173" y="2797255"/>
            <a:ext cx="3943627" cy="464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8"/>
          <p:cNvSpPr txBox="1"/>
          <p:nvPr>
            <p:ph idx="4" type="body"/>
          </p:nvPr>
        </p:nvSpPr>
        <p:spPr>
          <a:xfrm>
            <a:off x="7410173" y="3251595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296926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9"/>
          <p:cNvCxnSpPr/>
          <p:nvPr/>
        </p:nvCxnSpPr>
        <p:spPr>
          <a:xfrm rot="10800000">
            <a:off x="3094182" y="0"/>
            <a:ext cx="1745673" cy="389774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9"/>
          <p:cNvSpPr txBox="1"/>
          <p:nvPr>
            <p:ph type="title"/>
          </p:nvPr>
        </p:nvSpPr>
        <p:spPr>
          <a:xfrm>
            <a:off x="5476874" y="1671639"/>
            <a:ext cx="5884027" cy="1204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/>
          <p:nvPr>
            <p:ph idx="2" type="pic"/>
          </p:nvPr>
        </p:nvSpPr>
        <p:spPr>
          <a:xfrm>
            <a:off x="-28230" y="-9144"/>
            <a:ext cx="5481955" cy="6876288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825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5453725" y="3660774"/>
            <a:ext cx="5907176" cy="25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1">
  <p:cSld name="Table 1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8201" y="895350"/>
            <a:ext cx="3247662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8200" y="2813049"/>
            <a:ext cx="3247662" cy="32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731615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3" name="Google Shape;73;p10"/>
          <p:cNvGrpSpPr/>
          <p:nvPr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74" name="Google Shape;74;p10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10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accen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838200" y="337192"/>
            <a:ext cx="5655197" cy="1997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38200" y="2705177"/>
            <a:ext cx="5733772" cy="448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838199" y="3154166"/>
            <a:ext cx="5733773" cy="303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3" type="body"/>
          </p:nvPr>
        </p:nvSpPr>
        <p:spPr>
          <a:xfrm>
            <a:off x="7887108" y="2705177"/>
            <a:ext cx="3943627" cy="448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11"/>
          <p:cNvSpPr txBox="1"/>
          <p:nvPr>
            <p:ph idx="4" type="body"/>
          </p:nvPr>
        </p:nvSpPr>
        <p:spPr>
          <a:xfrm>
            <a:off x="7887107" y="3164867"/>
            <a:ext cx="3943627" cy="303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84398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2">
            <a:alphaModFix/>
          </a:blip>
          <a:srcRect b="73496" l="18645" r="28732" t="319"/>
          <a:stretch/>
        </p:blipFill>
        <p:spPr>
          <a:xfrm flipH="1" rot="10800000">
            <a:off x="6308436" y="-11"/>
            <a:ext cx="5883564" cy="2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 type="title">
  <p:cSld name="TITLE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4267200" y="6356350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2">
  <p:cSld name="Section Break 2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ctrTitle"/>
          </p:nvPr>
        </p:nvSpPr>
        <p:spPr>
          <a:xfrm>
            <a:off x="6991350" y="487680"/>
            <a:ext cx="4179570" cy="33766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13"/>
          <p:cNvCxnSpPr/>
          <p:nvPr/>
        </p:nvCxnSpPr>
        <p:spPr>
          <a:xfrm>
            <a:off x="3990667" y="0"/>
            <a:ext cx="1126278" cy="251229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13"/>
          <p:cNvSpPr/>
          <p:nvPr>
            <p:ph idx="2" type="pic"/>
          </p:nvPr>
        </p:nvSpPr>
        <p:spPr>
          <a:xfrm>
            <a:off x="0" y="-5080"/>
            <a:ext cx="6576291" cy="68726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2">
  <p:cSld name="Table 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97" name="Google Shape;97;p14"/>
            <p:cNvCxnSpPr/>
            <p:nvPr/>
          </p:nvCxnSpPr>
          <p:spPr>
            <a:xfrm flipH="1" rot="10800000">
              <a:off x="0" y="0"/>
              <a:ext cx="2590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9" name="Google Shape;99;p14"/>
          <p:cNvSpPr txBox="1"/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8382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ctrTitle"/>
          </p:nvPr>
        </p:nvSpPr>
        <p:spPr>
          <a:xfrm>
            <a:off x="7557750" y="2932775"/>
            <a:ext cx="4104600" cy="28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000"/>
              <a:t>SOFTWARE ENGINEERING: </a:t>
            </a:r>
            <a:br>
              <a:rPr lang="en-US" sz="4000"/>
            </a:br>
            <a:r>
              <a:rPr lang="en-US" sz="4000"/>
              <a:t>TESTING </a:t>
            </a:r>
            <a:br>
              <a:rPr lang="en-US" sz="4000"/>
            </a:br>
            <a:r>
              <a:rPr lang="en-US" sz="4000"/>
              <a:t>WITH JUNIT</a:t>
            </a:r>
            <a:endParaRPr sz="280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334780"/>
            <a:ext cx="30159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James McGuigan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ctrTitle"/>
          </p:nvPr>
        </p:nvSpPr>
        <p:spPr>
          <a:xfrm>
            <a:off x="3333300" y="180003"/>
            <a:ext cx="41796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TESTING </a:t>
            </a:r>
            <a:r>
              <a:rPr lang="en-US" sz="3600"/>
              <a:t>TOPICS</a:t>
            </a:r>
            <a:r>
              <a:rPr lang="en-US"/>
              <a:t>:</a:t>
            </a:r>
            <a:endParaRPr/>
          </a:p>
        </p:txBody>
      </p:sp>
      <p:sp>
        <p:nvSpPr>
          <p:cNvPr id="115" name="Google Shape;115;p16"/>
          <p:cNvSpPr txBox="1"/>
          <p:nvPr>
            <p:ph idx="1" type="subTitle"/>
          </p:nvPr>
        </p:nvSpPr>
        <p:spPr>
          <a:xfrm>
            <a:off x="3257100" y="1816100"/>
            <a:ext cx="4463400" cy="4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is Software Testing?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Types of Software Tests.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Introduction to Unit Testing.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is Unit Testing?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Test Driven Development.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Why do we Unit Test?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Unit Testing in Practice With JUnit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Practical Test Pyramid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48"/>
              <a:buNone/>
            </a:pPr>
            <a:r>
              <a:t/>
            </a:r>
            <a:endParaRPr sz="2032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48"/>
              <a:buNone/>
            </a:pPr>
            <a:r>
              <a:t/>
            </a:r>
            <a:endParaRPr sz="1185"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9579428" y="6356350"/>
            <a:ext cx="177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4294967295" type="body"/>
          </p:nvPr>
        </p:nvSpPr>
        <p:spPr>
          <a:xfrm>
            <a:off x="7720500" y="1816100"/>
            <a:ext cx="42558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Integration Tests.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System Tests.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Acceptance Tests.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Junit and Frameworks.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Test Software’s and What is Automated Testing. 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Best Practices When performing Software Testing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Terminologies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Annotations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ctrTitle"/>
          </p:nvPr>
        </p:nvSpPr>
        <p:spPr>
          <a:xfrm>
            <a:off x="7041975" y="863350"/>
            <a:ext cx="3178200" cy="337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800"/>
              <a:t>WHAT IS SOFTWARE TESTING?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1322325" y="268353"/>
            <a:ext cx="7288200" cy="1395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TESTING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1322325" y="1829150"/>
            <a:ext cx="8479500" cy="433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Software testing is the process of evaluating and verifying that a software application or system meets specified requirements and functions as intended.</a:t>
            </a:r>
            <a:endParaRPr b="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It helps ensure that software is: </a:t>
            </a:r>
            <a:endParaRPr b="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reliable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functional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secure</a:t>
            </a:r>
            <a:endParaRPr b="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There are several types of tests, including </a:t>
            </a:r>
            <a:r>
              <a:rPr lang="en-US"/>
              <a:t>unit</a:t>
            </a:r>
            <a:r>
              <a:rPr b="0" lang="en-US"/>
              <a:t>, </a:t>
            </a:r>
            <a:r>
              <a:rPr lang="en-US"/>
              <a:t>integration</a:t>
            </a:r>
            <a:r>
              <a:rPr b="0" lang="en-US"/>
              <a:t>, </a:t>
            </a:r>
            <a:r>
              <a:rPr lang="en-US"/>
              <a:t>system</a:t>
            </a:r>
            <a:r>
              <a:rPr b="0" lang="en-US"/>
              <a:t>, and </a:t>
            </a:r>
            <a:r>
              <a:rPr lang="en-US"/>
              <a:t>acceptance </a:t>
            </a:r>
            <a:r>
              <a:rPr b="0" lang="en-US"/>
              <a:t>testing, each serving a specific purpose.</a:t>
            </a:r>
            <a:endParaRPr b="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Testing can be manual or automated, depending on the requirements and resources available.</a:t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838200" y="337200"/>
            <a:ext cx="5655300" cy="132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TYPES OF SOFTWARE TESTS</a:t>
            </a:r>
            <a:endParaRPr/>
          </a:p>
        </p:txBody>
      </p:sp>
      <p:sp>
        <p:nvSpPr>
          <p:cNvPr id="138" name="Google Shape;138;p19"/>
          <p:cNvSpPr txBox="1"/>
          <p:nvPr>
            <p:ph idx="2" type="body"/>
          </p:nvPr>
        </p:nvSpPr>
        <p:spPr>
          <a:xfrm>
            <a:off x="838200" y="2289925"/>
            <a:ext cx="99951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●"/>
            </a:pPr>
            <a:r>
              <a:rPr b="1" lang="en-US" sz="2200"/>
              <a:t>Unit Tests</a:t>
            </a:r>
            <a:r>
              <a:rPr lang="en-US" sz="2200"/>
              <a:t>: Focus on testing individual components or functions in isolation to ensure they perform as expected.</a:t>
            </a:r>
            <a:endParaRPr sz="2200"/>
          </a:p>
          <a:p>
            <a:pPr indent="-3683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200"/>
              <a:buFont typeface="Noto Sans Symbols"/>
              <a:buChar char="●"/>
            </a:pPr>
            <a:r>
              <a:rPr b="1" lang="en-US" sz="2200"/>
              <a:t>Integration Tests</a:t>
            </a:r>
            <a:r>
              <a:rPr lang="en-US" sz="2200"/>
              <a:t>: Evaluate the interaction between different components or systems to verify they work together correctly.</a:t>
            </a:r>
            <a:endParaRPr sz="2200"/>
          </a:p>
          <a:p>
            <a:pPr indent="-3683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200"/>
              <a:buFont typeface="Noto Sans Symbols"/>
              <a:buChar char="●"/>
            </a:pPr>
            <a:r>
              <a:rPr b="1" lang="en-US" sz="2200"/>
              <a:t>System Tests</a:t>
            </a:r>
            <a:r>
              <a:rPr lang="en-US" sz="2200"/>
              <a:t>: Evaluate the software, simulating real-world scenarios to check if the entire system meets its requirements.</a:t>
            </a:r>
            <a:endParaRPr sz="2200"/>
          </a:p>
          <a:p>
            <a:pPr indent="-3683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200"/>
              <a:buFont typeface="Noto Sans Symbols"/>
              <a:buChar char="●"/>
            </a:pPr>
            <a:r>
              <a:rPr b="1" lang="en-US" sz="2200"/>
              <a:t>Acceptance Tests</a:t>
            </a:r>
            <a:r>
              <a:rPr lang="en-US" sz="2200"/>
              <a:t>: Conducted by end users or stakeholders to verify the system meets business requirements and is ready for deployment.</a:t>
            </a:r>
            <a:endParaRPr sz="2200"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ctrTitle"/>
          </p:nvPr>
        </p:nvSpPr>
        <p:spPr>
          <a:xfrm>
            <a:off x="7061050" y="1134650"/>
            <a:ext cx="32148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2800"/>
              <a:t>INTRODUCTION TO UNIT TESTING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76956" y="610738"/>
            <a:ext cx="7288200" cy="11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WHAT IS UNIT TESTING?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76950" y="2112862"/>
            <a:ext cx="9652200" cy="4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/>
              <a:t>Unit</a:t>
            </a:r>
            <a:r>
              <a:rPr b="0" i="0" lang="en-US"/>
              <a:t> testing involves performing tests on individual components or isolated functions to validate and verify the behavior of the code.</a:t>
            </a:r>
            <a:endParaRPr b="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Programmers conduct unit tests to identify discrepancies between expected and actual behavior.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b="0" lang="en-US"/>
              <a:t>Additional reasons to </a:t>
            </a:r>
            <a:r>
              <a:rPr b="0" lang="en-US"/>
              <a:t>perform</a:t>
            </a:r>
            <a:r>
              <a:rPr b="0" lang="en-US"/>
              <a:t> unit tests: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b="0" lang="en-US"/>
              <a:t>Identify and fix bugs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-US"/>
              <a:t>Ensure functional components </a:t>
            </a:r>
            <a:r>
              <a:rPr b="0" lang="en-US"/>
              <a:t>perform</a:t>
            </a:r>
            <a:r>
              <a:rPr b="0" lang="en-US"/>
              <a:t> to expectation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-US"/>
              <a:t>To allow for easier code adjustments/changes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lang="en-US"/>
              <a:t>Improve codes quality and maintainability</a:t>
            </a:r>
            <a:endParaRPr b="0"/>
          </a:p>
          <a:p>
            <a:pPr indent="-171450" lvl="1" marL="56921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1" marL="569214" rtl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4519025" y="911625"/>
            <a:ext cx="65931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TEST DRIVEN DEVELOPMENT</a:t>
            </a:r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61500" y="1978475"/>
            <a:ext cx="44574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we perform tests we want to: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Write a test that defines the functionality you intend to implement.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Develop the functional code until the test passes successfully.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Refactor both the new and existing code to enhance structure and clarity.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Update the list of test cases based on insights gained from the testing process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125"/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iagram of a test&#10;&#10;Description automatically generated"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9025" y="2112050"/>
            <a:ext cx="6593175" cy="38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322325" y="268354"/>
            <a:ext cx="7288200" cy="1340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UNIT TESTING?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1322325" y="2180075"/>
            <a:ext cx="8156400" cy="317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-US" sz="2000"/>
              <a:t>A unit test checks a </a:t>
            </a:r>
            <a:r>
              <a:rPr lang="en-US" sz="2000"/>
              <a:t>single </a:t>
            </a:r>
            <a:r>
              <a:rPr b="0" lang="en-US" sz="2000" u="sng"/>
              <a:t>function</a:t>
            </a:r>
            <a:r>
              <a:rPr b="0" lang="en-US" sz="2000"/>
              <a:t> or </a:t>
            </a:r>
            <a:r>
              <a:rPr b="0" lang="en-US" sz="2000" u="sng"/>
              <a:t>method</a:t>
            </a:r>
            <a:r>
              <a:rPr b="0" lang="en-US" sz="2000"/>
              <a:t> to ensure it produces the correct output for </a:t>
            </a:r>
            <a:r>
              <a:rPr b="0" lang="en-US"/>
              <a:t>its</a:t>
            </a:r>
            <a:r>
              <a:rPr b="0" lang="en-US" sz="2000"/>
              <a:t> given inputs.</a:t>
            </a:r>
            <a:endParaRPr b="0"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-US"/>
              <a:t>A unit test </a:t>
            </a:r>
            <a:r>
              <a:rPr b="0" lang="en-US" sz="2000"/>
              <a:t>should be independent, repeatable, and run in isolation from external systems such as databases and APIs.</a:t>
            </a:r>
            <a:endParaRPr b="0"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●"/>
            </a:pPr>
            <a:r>
              <a:rPr b="0" lang="en-US" sz="2000"/>
              <a:t>Good unit tests use assertions to compare the actual result to the expected result, confirming correctness.</a:t>
            </a:r>
            <a:endParaRPr b="0" sz="2000"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1341125" y="883701"/>
            <a:ext cx="89205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WHY DO WE UNIT TEST?</a:t>
            </a:r>
            <a:endParaRPr/>
          </a:p>
        </p:txBody>
      </p:sp>
      <p:sp>
        <p:nvSpPr>
          <p:cNvPr id="176" name="Google Shape;176;p24"/>
          <p:cNvSpPr txBox="1"/>
          <p:nvPr>
            <p:ph idx="3" type="body"/>
          </p:nvPr>
        </p:nvSpPr>
        <p:spPr>
          <a:xfrm>
            <a:off x="1341121" y="2082725"/>
            <a:ext cx="8920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200"/>
              <a:t>Reasons for Testing:</a:t>
            </a:r>
            <a:endParaRPr sz="2200"/>
          </a:p>
        </p:txBody>
      </p:sp>
      <p:sp>
        <p:nvSpPr>
          <p:cNvPr id="177" name="Google Shape;177;p24"/>
          <p:cNvSpPr txBox="1"/>
          <p:nvPr>
            <p:ph idx="4" type="body"/>
          </p:nvPr>
        </p:nvSpPr>
        <p:spPr>
          <a:xfrm>
            <a:off x="1341121" y="2753350"/>
            <a:ext cx="8920500" cy="30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The software meets its requirements and performs the tasks for which it was designed.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We perform unit testing to i</a:t>
            </a:r>
            <a:r>
              <a:rPr lang="en-US" sz="2000"/>
              <a:t>dentify</a:t>
            </a:r>
            <a:r>
              <a:rPr lang="en-US" sz="2000"/>
              <a:t> bugs or defects that could negatively impact the user experience or cause system failures.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We perform unit testing to i</a:t>
            </a:r>
            <a:r>
              <a:rPr lang="en-US" sz="2000"/>
              <a:t>mprove software quality, user satisfaction, and reduces risk of post-process/release issues.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●"/>
            </a:pPr>
            <a:r>
              <a:rPr lang="en-US" sz="2000"/>
              <a:t>We perform unit testing to v</a:t>
            </a:r>
            <a:r>
              <a:rPr lang="en-US" sz="2000"/>
              <a:t>erify that the software is scalable, secure, and compatible with different systems or environments.</a:t>
            </a:r>
            <a:endParaRPr sz="2000"/>
          </a:p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10373350" y="5784849"/>
            <a:ext cx="98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2595450" y="568950"/>
            <a:ext cx="87585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UNIT TESTING IN PRACTICE WITH JUNIT </a:t>
            </a:r>
            <a:endParaRPr/>
          </a:p>
        </p:txBody>
      </p:sp>
      <p:sp>
        <p:nvSpPr>
          <p:cNvPr id="185" name="Google Shape;185;p25"/>
          <p:cNvSpPr txBox="1"/>
          <p:nvPr>
            <p:ph idx="4" type="body"/>
          </p:nvPr>
        </p:nvSpPr>
        <p:spPr>
          <a:xfrm>
            <a:off x="2135450" y="2096425"/>
            <a:ext cx="9218400" cy="4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lnSpcReduction="20000"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JUnit is a testing framework for Java applications that allows users to write and run unit tests quick and efficiently.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It provides annotations like: </a:t>
            </a:r>
            <a:endParaRPr sz="2000"/>
          </a:p>
          <a:p>
            <a:pPr indent="-355600" lvl="1" marL="9144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o"/>
            </a:pPr>
            <a:r>
              <a:rPr lang="en-US" sz="2000"/>
              <a:t>@</a:t>
            </a:r>
            <a:r>
              <a:rPr b="1" lang="en-US" sz="2000"/>
              <a:t>Test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o"/>
            </a:pPr>
            <a:r>
              <a:rPr lang="en-US" sz="2000"/>
              <a:t>@</a:t>
            </a:r>
            <a:r>
              <a:rPr b="1" lang="en-US" sz="2000"/>
              <a:t>Before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o"/>
            </a:pPr>
            <a:r>
              <a:rPr lang="en-US" sz="2000"/>
              <a:t>@</a:t>
            </a:r>
            <a:r>
              <a:rPr b="1" lang="en-US" sz="2000"/>
              <a:t>After</a:t>
            </a:r>
            <a:r>
              <a:rPr lang="en-US" sz="2000"/>
              <a:t> </a:t>
            </a:r>
            <a:endParaRPr sz="2000"/>
          </a:p>
          <a:p>
            <a:pPr indent="45720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/>
              <a:t>to organize and manage tests allowing for consistent results.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JUnit integrates easily with build tools like </a:t>
            </a:r>
            <a:r>
              <a:rPr b="1" lang="en-US" sz="2000"/>
              <a:t>Maven </a:t>
            </a:r>
            <a:r>
              <a:rPr lang="en-US" sz="2000"/>
              <a:t>and </a:t>
            </a:r>
            <a:r>
              <a:rPr b="1" lang="en-US" sz="2000"/>
              <a:t>Gradle </a:t>
            </a:r>
            <a:r>
              <a:rPr lang="en-US" sz="2000"/>
              <a:t>and works well with continuous integration systems.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●"/>
            </a:pPr>
            <a:r>
              <a:rPr lang="en-US" sz="2000"/>
              <a:t>Other frameworks like </a:t>
            </a:r>
            <a:r>
              <a:rPr b="1" lang="en-US" sz="2000"/>
              <a:t>TestNG </a:t>
            </a:r>
            <a:r>
              <a:rPr lang="en-US" sz="2000"/>
              <a:t>or </a:t>
            </a:r>
            <a:r>
              <a:rPr b="1" lang="en-US" sz="2000"/>
              <a:t>Spock </a:t>
            </a:r>
            <a:r>
              <a:rPr lang="en-US" sz="2000"/>
              <a:t>offer similar functionalities but vary due to the unique needs of the testing framework or the variations of the programming languages.</a:t>
            </a:r>
            <a:endParaRPr sz="2000"/>
          </a:p>
        </p:txBody>
      </p:sp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13675" y="351725"/>
            <a:ext cx="5444100" cy="193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PRACTICAL TEST PYRAMID</a:t>
            </a:r>
            <a:endParaRPr sz="2800"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5229925" y="925500"/>
            <a:ext cx="5924100" cy="53388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testing strategy emphasizing fast, focused tests and fewer slow, comprehensive tests.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u="sng"/>
              <a:t>Base</a:t>
            </a:r>
            <a:r>
              <a:rPr lang="en-US"/>
              <a:t>: Unit Tests</a:t>
            </a:r>
            <a:endParaRPr/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Fast &amp; isolated</a:t>
            </a:r>
            <a:r>
              <a:rPr lang="en-US"/>
              <a:t> 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tests code in small parts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large number of tests 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providing quick feedback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u="sng"/>
              <a:t>Middle</a:t>
            </a:r>
            <a:r>
              <a:rPr lang="en-US"/>
              <a:t>: Integration Tests</a:t>
            </a:r>
            <a:endParaRPr/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Moderate speed </a:t>
            </a:r>
            <a:endParaRPr b="1"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tests interactions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Fewer than unit tests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Broader coverage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u="sng"/>
              <a:t>Top</a:t>
            </a:r>
            <a:r>
              <a:rPr lang="en-US"/>
              <a:t>: UI Tests</a:t>
            </a:r>
            <a:endParaRPr/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Slowest</a:t>
            </a:r>
            <a:r>
              <a:rPr lang="en-US"/>
              <a:t> 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tests the full application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Least amount of tests </a:t>
            </a:r>
            <a:endParaRPr/>
          </a:p>
          <a:p>
            <a: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Checking overall experience</a:t>
            </a:r>
            <a:endParaRPr/>
          </a:p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75" y="2709750"/>
            <a:ext cx="4906550" cy="259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ctrTitle"/>
          </p:nvPr>
        </p:nvSpPr>
        <p:spPr>
          <a:xfrm>
            <a:off x="6991350" y="487018"/>
            <a:ext cx="4179600" cy="337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2800"/>
              <a:t>NEXT STEPS IN SOFTWARE TESTING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434900" y="0"/>
            <a:ext cx="8175600" cy="1831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INTEGRATION</a:t>
            </a:r>
            <a:r>
              <a:rPr lang="en-US"/>
              <a:t> TESTING</a:t>
            </a:r>
            <a:endParaRPr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680925" y="2093925"/>
            <a:ext cx="7527000" cy="3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Integration testing checks how different software components or systems work together.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Integration</a:t>
            </a:r>
            <a:r>
              <a:rPr lang="en-US" sz="2000">
                <a:solidFill>
                  <a:schemeClr val="dk1"/>
                </a:solidFill>
              </a:rPr>
              <a:t> tests allows for data flow correctly between components of the program and for combined modules to function as expected.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Integration tests can be used to discover issues like broken interfaces, data mismatches, or miscommunications between modules.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2348050" y="568950"/>
            <a:ext cx="8025300" cy="77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TESTING</a:t>
            </a:r>
            <a:endParaRPr/>
          </a:p>
        </p:txBody>
      </p:sp>
      <p:sp>
        <p:nvSpPr>
          <p:cNvPr id="216" name="Google Shape;216;p29"/>
          <p:cNvSpPr txBox="1"/>
          <p:nvPr>
            <p:ph idx="2" type="body"/>
          </p:nvPr>
        </p:nvSpPr>
        <p:spPr>
          <a:xfrm>
            <a:off x="2348050" y="1721250"/>
            <a:ext cx="8025300" cy="34155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System testing validates the complete and integrated software system to ensure it meets all specified requirements.</a:t>
            </a:r>
            <a:endParaRPr sz="2000"/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It simulates real-world conditions to check overall functionality, performance, security, and any additional non-functional requirements of the system.</a:t>
            </a:r>
            <a:endParaRPr sz="2000"/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●"/>
            </a:pPr>
            <a:r>
              <a:rPr lang="en-US" sz="2000"/>
              <a:t>System testing involves </a:t>
            </a:r>
            <a:r>
              <a:rPr b="1" lang="en-US" sz="2000"/>
              <a:t>functional </a:t>
            </a:r>
            <a:r>
              <a:rPr lang="en-US" sz="2000"/>
              <a:t>testing, ensuring the software works, as well as </a:t>
            </a:r>
            <a:r>
              <a:rPr b="1" lang="en-US" sz="2000"/>
              <a:t>non-functional</a:t>
            </a:r>
            <a:r>
              <a:rPr lang="en-US" sz="2000"/>
              <a:t> testing, load, and stress tests.</a:t>
            </a:r>
            <a:endParaRPr sz="2000"/>
          </a:p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1322325" y="268353"/>
            <a:ext cx="7288200" cy="1515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ACCEPTANCE TESTING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1322325" y="2132225"/>
            <a:ext cx="8465700" cy="358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-US"/>
              <a:t>Acceptance testing is </a:t>
            </a:r>
            <a:r>
              <a:rPr b="0" lang="en-US"/>
              <a:t>performed</a:t>
            </a:r>
            <a:r>
              <a:rPr b="0" lang="en-US"/>
              <a:t> to verify whether the software meets the business and user requirements before the softwares deployment.</a:t>
            </a:r>
            <a:endParaRPr b="0"/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-US"/>
              <a:t>Acceptance testing ensures that the product satisfies the needs of the end-users and is prepared for release.</a:t>
            </a:r>
            <a:endParaRPr b="0"/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●"/>
            </a:pPr>
            <a:r>
              <a:rPr b="0" lang="en-US"/>
              <a:t>Acceptance testing can be performed by customers or a designated testing team, validating the use of the software and its </a:t>
            </a:r>
            <a:r>
              <a:rPr b="0" lang="en-US"/>
              <a:t>reliability</a:t>
            </a:r>
            <a:r>
              <a:rPr b="0" lang="en-US"/>
              <a:t> in production.</a:t>
            </a:r>
            <a:endParaRPr/>
          </a:p>
        </p:txBody>
      </p:sp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1323250" y="2353095"/>
            <a:ext cx="289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Software &amp; Automated Tests</a:t>
            </a:r>
            <a:endParaRPr/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1341125" y="558800"/>
            <a:ext cx="9953400" cy="938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SOFTWARES &amp; AUTOMATED TESTING</a:t>
            </a:r>
            <a:endParaRPr/>
          </a:p>
        </p:txBody>
      </p:sp>
      <p:sp>
        <p:nvSpPr>
          <p:cNvPr id="239" name="Google Shape;239;p32"/>
          <p:cNvSpPr txBox="1"/>
          <p:nvPr>
            <p:ph idx="4" type="body"/>
          </p:nvPr>
        </p:nvSpPr>
        <p:spPr>
          <a:xfrm>
            <a:off x="1341125" y="1761900"/>
            <a:ext cx="8920500" cy="37998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/>
              <a:t>In order to test software, developers can </a:t>
            </a:r>
            <a:r>
              <a:rPr lang="en-US" sz="2000"/>
              <a:t>use tools</a:t>
            </a:r>
            <a:r>
              <a:rPr lang="en-US" sz="2000"/>
              <a:t> and or frameworks to </a:t>
            </a:r>
            <a:r>
              <a:rPr b="1" lang="en-US" sz="2000"/>
              <a:t>write</a:t>
            </a:r>
            <a:r>
              <a:rPr lang="en-US" sz="2000"/>
              <a:t>, </a:t>
            </a:r>
            <a:r>
              <a:rPr b="1" lang="en-US" sz="2000"/>
              <a:t>execute</a:t>
            </a:r>
            <a:r>
              <a:rPr lang="en-US" sz="2000"/>
              <a:t>, and </a:t>
            </a:r>
            <a:r>
              <a:rPr b="1" lang="en-US" sz="2000"/>
              <a:t>manage </a:t>
            </a:r>
            <a:r>
              <a:rPr lang="en-US" sz="2000"/>
              <a:t>tests.</a:t>
            </a:r>
            <a:endParaRPr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 sz="2000"/>
              <a:t>Testing Tools include:</a:t>
            </a:r>
            <a:endParaRPr sz="2000"/>
          </a:p>
          <a:p>
            <a:pPr indent="-355600" lvl="3" marL="18288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b="1" lang="en-US" sz="2000"/>
              <a:t>JUnit</a:t>
            </a:r>
            <a:endParaRPr b="1" sz="2000"/>
          </a:p>
          <a:p>
            <a:pPr indent="-355600" lvl="3" marL="18288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b="1" lang="en-US" sz="2000"/>
              <a:t>Selenium</a:t>
            </a:r>
            <a:endParaRPr b="1" sz="2000"/>
          </a:p>
          <a:p>
            <a:pPr indent="-355600" lvl="3" marL="18288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b="1" lang="en-US" sz="2000"/>
              <a:t>TestNG</a:t>
            </a:r>
            <a:endParaRPr b="1" sz="2000"/>
          </a:p>
          <a:p>
            <a:pPr indent="-3556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/>
              <a:t>Automated functionality:</a:t>
            </a:r>
            <a:endParaRPr b="1" sz="2000"/>
          </a:p>
          <a:p>
            <a:pPr indent="-3556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o"/>
            </a:pPr>
            <a:r>
              <a:rPr lang="en-US" sz="2000"/>
              <a:t>Automated testing allows developers to run tests frequently and consistently without manual intervention, increasing testing efficiency.</a:t>
            </a:r>
            <a:endParaRPr sz="2000"/>
          </a:p>
          <a:p>
            <a:pPr indent="-355600" lvl="1" marL="9144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Arial"/>
              <a:buChar char="o"/>
            </a:pPr>
            <a:r>
              <a:rPr lang="en-US" sz="2000"/>
              <a:t>Automated tests can be run as part of continuous integration pipelines to ensure software quality with each new code change.</a:t>
            </a:r>
            <a:endParaRPr sz="2000"/>
          </a:p>
        </p:txBody>
      </p:sp>
      <p:sp>
        <p:nvSpPr>
          <p:cNvPr id="240" name="Google Shape;240;p32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838200" y="337200"/>
            <a:ext cx="5655300" cy="124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 When </a:t>
            </a:r>
            <a:r>
              <a:rPr lang="en-US"/>
              <a:t>Performing</a:t>
            </a:r>
            <a:r>
              <a:rPr lang="en-US"/>
              <a:t> Software Tests</a:t>
            </a:r>
            <a:endParaRPr/>
          </a:p>
        </p:txBody>
      </p:sp>
      <p:sp>
        <p:nvSpPr>
          <p:cNvPr id="247" name="Google Shape;247;p33"/>
          <p:cNvSpPr txBox="1"/>
          <p:nvPr>
            <p:ph idx="2" type="body"/>
          </p:nvPr>
        </p:nvSpPr>
        <p:spPr>
          <a:xfrm>
            <a:off x="798900" y="2040675"/>
            <a:ext cx="8933400" cy="424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/>
              <a:t>Start testing software early</a:t>
            </a:r>
            <a:r>
              <a:rPr lang="en-US" sz="2000"/>
              <a:t>: </a:t>
            </a:r>
            <a:endParaRPr sz="2000"/>
          </a:p>
          <a:p>
            <a:pPr indent="-355600" lvl="1" marL="9144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/>
              <a:t>Begin writing tests early in the development process to catch issues sooner and ensure consistent quality.</a:t>
            </a:r>
            <a:endParaRPr sz="2000"/>
          </a:p>
          <a:p>
            <a:pPr indent="-355600" lvl="0" marL="4572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/>
              <a:t>Test small, isolated parts</a:t>
            </a:r>
            <a:r>
              <a:rPr lang="en-US" sz="2000"/>
              <a:t>: </a:t>
            </a:r>
            <a:endParaRPr sz="2000"/>
          </a:p>
          <a:p>
            <a:pPr indent="-355600" lvl="1" marL="9144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/>
              <a:t>Focus on testing individual components “</a:t>
            </a:r>
            <a:r>
              <a:rPr i="1" lang="en-US" sz="2000"/>
              <a:t>p</a:t>
            </a:r>
            <a:r>
              <a:rPr i="1" lang="en-US" sz="2000"/>
              <a:t>erforming</a:t>
            </a:r>
            <a:r>
              <a:rPr i="1" lang="en-US" sz="2000"/>
              <a:t> unit tests</a:t>
            </a:r>
            <a:r>
              <a:rPr lang="en-US" sz="2000"/>
              <a:t>” before assessing their interactions “</a:t>
            </a:r>
            <a:r>
              <a:rPr i="1" lang="en-US" sz="2000"/>
              <a:t>aka. integration testing</a:t>
            </a:r>
            <a:r>
              <a:rPr lang="en-US" sz="2000"/>
              <a:t>.”</a:t>
            </a:r>
            <a:endParaRPr sz="2000"/>
          </a:p>
          <a:p>
            <a:pPr indent="-355600" lvl="0" marL="4572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/>
              <a:t>Automate the tests where possible</a:t>
            </a:r>
            <a:r>
              <a:rPr lang="en-US" sz="2000"/>
              <a:t>: </a:t>
            </a:r>
            <a:endParaRPr sz="2000"/>
          </a:p>
          <a:p>
            <a:pPr indent="-355600" lvl="1" marL="9144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/>
              <a:t>By automating repetitive tests, we save time and improve consistency, especially </a:t>
            </a:r>
            <a:r>
              <a:rPr lang="en-US" sz="2000"/>
              <a:t>during</a:t>
            </a:r>
            <a:r>
              <a:rPr lang="en-US" sz="2000"/>
              <a:t> regression testing.</a:t>
            </a:r>
            <a:endParaRPr sz="2000"/>
          </a:p>
          <a:p>
            <a:pPr indent="-355600" lvl="0" marL="457200" rtl="0" algn="l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/>
              <a:t>Maintain the test codes readability and clarity</a:t>
            </a:r>
            <a:r>
              <a:rPr lang="en-US" sz="2000"/>
              <a:t>: </a:t>
            </a:r>
            <a:endParaRPr sz="2000"/>
          </a:p>
          <a:p>
            <a:pPr indent="-355600" lvl="1" marL="914400" rtl="0" algn="l">
              <a:lnSpc>
                <a:spcPct val="87916"/>
              </a:lnSpc>
              <a:spcBef>
                <a:spcPts val="800"/>
              </a:spcBef>
              <a:spcAft>
                <a:spcPts val="800"/>
              </a:spcAft>
              <a:buSzPts val="2000"/>
              <a:buFont typeface="Courier New"/>
              <a:buChar char="o"/>
            </a:pPr>
            <a:r>
              <a:rPr lang="en-US" sz="2000"/>
              <a:t>Ensure that test code is clean, well-documented, and easy to understand to avoid confusion and ease future modifications.</a:t>
            </a:r>
            <a:endParaRPr sz="2000"/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419950" y="252125"/>
            <a:ext cx="9953400" cy="924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Annotations in Software Testing</a:t>
            </a:r>
            <a:endParaRPr/>
          </a:p>
        </p:txBody>
      </p:sp>
      <p:sp>
        <p:nvSpPr>
          <p:cNvPr id="255" name="Google Shape;255;p34"/>
          <p:cNvSpPr txBox="1"/>
          <p:nvPr>
            <p:ph idx="4" type="body"/>
          </p:nvPr>
        </p:nvSpPr>
        <p:spPr>
          <a:xfrm>
            <a:off x="628947" y="1523125"/>
            <a:ext cx="4977300" cy="44865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17500" lvl="0" marL="228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@Test</a:t>
            </a:r>
            <a:r>
              <a:rPr lang="en-US" sz="1400"/>
              <a:t> - Marks a method as a test case to be executed by the testing framework.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assertEquals() </a:t>
            </a:r>
            <a:r>
              <a:rPr lang="en-US" sz="1400"/>
              <a:t>- Checks if the expected value is equal to the actual value.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assertTrue()</a:t>
            </a:r>
            <a:r>
              <a:rPr lang="en-US" sz="1400"/>
              <a:t> - Verifies that a given condition is true.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assertFalse()</a:t>
            </a:r>
            <a:r>
              <a:rPr lang="en-US" sz="1400"/>
              <a:t> - Verifies that a given condition is false.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assertNull()</a:t>
            </a:r>
            <a:r>
              <a:rPr lang="en-US" sz="1400"/>
              <a:t> - Checks if an object is null.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assertNotNull()</a:t>
            </a:r>
            <a:r>
              <a:rPr lang="en-US" sz="1400"/>
              <a:t> - Verifies that an object is not null.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@Before</a:t>
            </a:r>
            <a:r>
              <a:rPr lang="en-US" sz="1400"/>
              <a:t> - Specifies a method to run before each test case, typically for setting up test conditions.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@After</a:t>
            </a:r>
            <a:r>
              <a:rPr lang="en-US" sz="1400"/>
              <a:t> 	- Specifies a method to run after each test case, typically for</a:t>
            </a:r>
            <a:r>
              <a:rPr b="1" lang="en-US" sz="1400"/>
              <a:t> </a:t>
            </a:r>
            <a:r>
              <a:rPr lang="en-US" sz="1400"/>
              <a:t>cleanup tasks.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1400"/>
              <a:buFont typeface="Noto Sans Symbols"/>
              <a:buChar char="●"/>
            </a:pPr>
            <a:r>
              <a:rPr b="1" lang="en-US" sz="1400"/>
              <a:t>@Ignore</a:t>
            </a:r>
            <a:r>
              <a:rPr lang="en-US" sz="1400"/>
              <a:t> - Temporarily disables a test method, preventing it from starting executed.</a:t>
            </a:r>
            <a:endParaRPr sz="1400"/>
          </a:p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4" type="body"/>
          </p:nvPr>
        </p:nvSpPr>
        <p:spPr>
          <a:xfrm>
            <a:off x="5827272" y="1523138"/>
            <a:ext cx="4977300" cy="44865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-317500" lvl="0" marL="228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@BeforeClass</a:t>
            </a:r>
            <a:r>
              <a:rPr lang="en-US" sz="1400"/>
              <a:t> - Marks a method to run once before all tests in the class, used for one-time setup.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@AfterClass</a:t>
            </a:r>
            <a:r>
              <a:rPr lang="en-US" sz="1400"/>
              <a:t> - Marks a method to run once after all tests in the class, used for one-time cleanup.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@RunWith</a:t>
            </a:r>
            <a:r>
              <a:rPr lang="en-US" sz="1400"/>
              <a:t> - Specifies a custom runner to control how the tests run, such as for parameterized tests.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@ParameterizedTest</a:t>
            </a:r>
            <a:r>
              <a:rPr lang="en-US" sz="1400"/>
              <a:t> - Marks a test method to run multiple times with different sets of parameters.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/>
              <a:t>Mockito</a:t>
            </a:r>
            <a:r>
              <a:rPr lang="en-US" sz="1400"/>
              <a:t>	 - A framework for creating mock objects in unit tests to isolate dependencies.</a:t>
            </a:r>
            <a:endParaRPr sz="1400"/>
          </a:p>
          <a:p>
            <a:pPr indent="-317500" lvl="0" marL="2286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1400"/>
              <a:buFont typeface="Noto Sans Symbols"/>
              <a:buChar char="●"/>
            </a:pPr>
            <a:r>
              <a:rPr b="1" lang="en-US" sz="1400"/>
              <a:t>@Mock</a:t>
            </a:r>
            <a:r>
              <a:rPr lang="en-US" sz="1400"/>
              <a:t>	- Specifies that an object should be “mocked,” typically used with Mockito to simulate behaviors.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2940850" y="164731"/>
            <a:ext cx="8420100" cy="76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</a:t>
            </a:r>
            <a:r>
              <a:rPr lang="en-US"/>
              <a:t>Terminologies</a:t>
            </a:r>
            <a:r>
              <a:rPr lang="en-US"/>
              <a:t> in Software Testing</a:t>
            </a:r>
            <a:endParaRPr/>
          </a:p>
        </p:txBody>
      </p:sp>
      <p:sp>
        <p:nvSpPr>
          <p:cNvPr id="264" name="Google Shape;264;p35"/>
          <p:cNvSpPr txBox="1"/>
          <p:nvPr>
            <p:ph idx="2" type="body"/>
          </p:nvPr>
        </p:nvSpPr>
        <p:spPr>
          <a:xfrm>
            <a:off x="1717275" y="1087025"/>
            <a:ext cx="4739400" cy="52692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Test Case</a:t>
            </a:r>
            <a:r>
              <a:rPr lang="en-US" sz="1400"/>
              <a:t> - A set of conditions or variables used to determine if a software application behaves as expected.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Test Suite</a:t>
            </a:r>
            <a:r>
              <a:rPr lang="en-US" sz="1400"/>
              <a:t> - A collection of test cases grouped together for execution to verify specific functionality.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Test Plan</a:t>
            </a:r>
            <a:r>
              <a:rPr lang="en-US" sz="1400"/>
              <a:t> - A document detailing the scope, approach, resources, schedule, and activities for testing.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Bug/Defect </a:t>
            </a:r>
            <a:r>
              <a:rPr lang="en-US" sz="1400"/>
              <a:t>- </a:t>
            </a:r>
            <a:r>
              <a:rPr lang="en-US" sz="1400"/>
              <a:t>A</a:t>
            </a:r>
            <a:r>
              <a:rPr lang="en-US" sz="1400"/>
              <a:t> issue in the software that causes it to function incorrectly or produce unintended results.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Regression Testing</a:t>
            </a:r>
            <a:r>
              <a:rPr lang="en-US" sz="1400"/>
              <a:t> - Testing existing functionality after changes made to ensure that the new code does not break previous features.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Smoke Testing</a:t>
            </a:r>
            <a:r>
              <a:rPr lang="en-US" sz="1400"/>
              <a:t> -	 A preliminary test to check basic functionality, ensuring that critical features work before more detailed testing.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Black-box Testing</a:t>
            </a:r>
            <a:r>
              <a:rPr lang="en-US" sz="1400"/>
              <a:t> - Testing based on functionality, without knowledge of the internal code structure, focusing on inputs and expected outputs.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White-box Testing</a:t>
            </a:r>
            <a:r>
              <a:rPr lang="en-US" sz="1400"/>
              <a:t> - Testing based on the internal structure and logic of the code, often involving code path verification.</a:t>
            </a:r>
            <a:endParaRPr sz="2100"/>
          </a:p>
        </p:txBody>
      </p:sp>
      <p:sp>
        <p:nvSpPr>
          <p:cNvPr id="265" name="Google Shape;265;p35"/>
          <p:cNvSpPr txBox="1"/>
          <p:nvPr>
            <p:ph idx="4" type="body"/>
          </p:nvPr>
        </p:nvSpPr>
        <p:spPr>
          <a:xfrm>
            <a:off x="6629600" y="1087050"/>
            <a:ext cx="5137800" cy="52692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Automation Testing</a:t>
            </a:r>
            <a:r>
              <a:rPr lang="en-US" sz="1400"/>
              <a:t> - The use of automated tools and scripts to run tests, improving efficiency and consistency in repeated tests.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Performance Testing</a:t>
            </a:r>
            <a:r>
              <a:rPr lang="en-US" sz="1400"/>
              <a:t> - Testing the software's performance under various conditions, including load, speed, and stability, to ensure it meets required standards.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Acceptance Criteria</a:t>
            </a:r>
            <a:r>
              <a:rPr lang="en-US" sz="1400"/>
              <a:t> - The predefined conditions that must be met for the software to be accepted by stakeholders or end-users.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Test Coverage</a:t>
            </a:r>
            <a:r>
              <a:rPr lang="en-US" sz="1400"/>
              <a:t> - A measure of how much of the application’s code or functionality is evaluated by the test cases.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Mocking/Stubbing</a:t>
            </a:r>
            <a:r>
              <a:rPr lang="en-US" sz="1400"/>
              <a:t> - Techniques used in unit testing to simulate external dependencies, isolating the component being evaluated from the rest of the system.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Continuous Integration (CI)</a:t>
            </a:r>
            <a:r>
              <a:rPr lang="en-US" sz="1400"/>
              <a:t> - A development practice where code changes are automatically assessed and integrated into the main codebase, ensuring early detection of issues.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Failover Testing</a:t>
            </a:r>
            <a:r>
              <a:rPr lang="en-US" sz="1400"/>
              <a:t> - Testing the software’s ability to recover from hardware or software failures, ensuring business continuity in case of issues.</a:t>
            </a:r>
            <a:endParaRPr sz="1400"/>
          </a:p>
        </p:txBody>
      </p:sp>
      <p:sp>
        <p:nvSpPr>
          <p:cNvPr id="266" name="Google Shape;266;p35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ctrTitle"/>
          </p:nvPr>
        </p:nvSpPr>
        <p:spPr>
          <a:xfrm>
            <a:off x="4234650" y="2465975"/>
            <a:ext cx="3722700" cy="1524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Let's</a:t>
            </a:r>
            <a:r>
              <a:rPr lang="en-US" sz="2800"/>
              <a:t> review some Code…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9579428" y="6356350"/>
            <a:ext cx="17745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36"/>
          <p:cNvSpPr txBox="1"/>
          <p:nvPr/>
        </p:nvSpPr>
        <p:spPr>
          <a:xfrm>
            <a:off x="4226325" y="1092825"/>
            <a:ext cx="41121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Learning Activity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